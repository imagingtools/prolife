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ImagingTools GmbH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Описание программного продукта ProLife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AF2F8"/>
                </a:solidFill>
                <a:latin typeface="Calibri"/>
              </a:defRPr>
            </a:pPr>
            <a:r>
              <a:t>Заявка на получение статуса «Малая технологическая компания»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  <a:latin typeface="Calibri"/>
              </a:defRPr>
            </a:pPr>
            <a:r>
              <a:t>Штокдорф, Германия · Апрель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О компании ImagingTools GmbH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t>ImagingTools GmbH — технологическая компания, специализирующаяся на разработке высококачественных программных инструментов и фреймворков для промышленных приложений и компонентного программирования.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  <a:buChar char="●"/>
            </a:pPr>
            <a:r>
              <a:t>Разработка PLM-систем для управления жизненным циклом продуктов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  <a:buChar char="●"/>
            </a:pPr>
            <a:r>
              <a:t>Компонентные фреймворки промышленного уровня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  <a:buChar char="●"/>
            </a:pPr>
            <a:r>
              <a:t>SDK для обработки изображений, 3D-визуализации и графики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  <a:buChar char="●"/>
            </a:pPr>
            <a:r>
              <a:t>Соответствие нормативным требованиям ЕС (EU Cyber Resilience Act)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  <a:buChar char="●"/>
            </a:pPr>
            <a:r>
              <a:t>Кросс-платформенная разработка (Windows, Linux, macOS)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Продукт ProLife — обзор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t>ProLife — программное решение для информационного управления жизненным циклом продуктов (аппаратного и программного обеспечения).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  <a:buChar char="●"/>
            </a:pPr>
            <a:r>
              <a:t>Управление заказами программного и аппаратного обеспечения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  <a:buChar char="●"/>
            </a:pPr>
            <a:r>
              <a:t>Управление лицензиями (feature-based licensing)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  <a:buChar char="●"/>
            </a:pPr>
            <a:r>
              <a:t>Учёт активов и инвентаризация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  <a:buChar char="●"/>
            </a:pPr>
            <a:r>
              <a:t>Статистика и аналитика экосистемы предприятия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  <a:buChar char="●"/>
            </a:pPr>
            <a:r>
              <a:t>Аутентификация и авторизация (ролевая модель)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  <a:buChar char="●"/>
            </a:pPr>
            <a:r>
              <a:t>Управление документами с версионированием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  <a:buChar char="●"/>
            </a:pPr>
            <a:r>
              <a:t>Генерация отчётов и импорт/экспорт данных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ProLife — архитектура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46304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276"/>
                </a:solidFill>
              </a:defRPr>
            </a:pPr>
            <a:r>
              <a:t>ProLife Client</a:t>
            </a:r>
          </a:p>
          <a:p>
            <a:pPr algn="ctr">
              <a:defRPr sz="1400">
                <a:solidFill>
                  <a:srgbClr val="2C3E50"/>
                </a:solidFill>
              </a:defRPr>
            </a:pPr>
            <a:r>
              <a:t>Десктопное приложение</a:t>
            </a:r>
            <a:br/>
            <a:r>
              <a:t>Qt/QML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3291840" cy="146304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276"/>
                </a:solidFill>
              </a:defRPr>
            </a:pPr>
            <a:r>
              <a:t>ProLife Server</a:t>
            </a:r>
          </a:p>
          <a:p>
            <a:pPr algn="ctr">
              <a:defRPr sz="1400">
                <a:solidFill>
                  <a:srgbClr val="2C3E50"/>
                </a:solidFill>
              </a:defRPr>
            </a:pPr>
            <a:r>
              <a:t>Серверная инфраструктура</a:t>
            </a:r>
            <a:br/>
            <a:r>
              <a:t>Бизнес-логика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3291840" cy="146304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276"/>
                </a:solidFill>
              </a:defRPr>
            </a:pPr>
            <a:r>
              <a:t>ProLife APIs</a:t>
            </a:r>
          </a:p>
          <a:p>
            <a:pPr algn="ctr">
              <a:defRPr sz="1400">
                <a:solidFill>
                  <a:srgbClr val="2C3E50"/>
                </a:solidFill>
              </a:defRPr>
            </a:pPr>
            <a:r>
              <a:t>GraphQL и REST</a:t>
            </a:r>
            <a:br/>
            <a:r>
              <a:t>интерфейсы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3291840" cy="146304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276"/>
                </a:solidFill>
              </a:defRPr>
            </a:pPr>
            <a:r>
              <a:t>ProLife Database</a:t>
            </a:r>
          </a:p>
          <a:p>
            <a:pPr algn="ctr">
              <a:defRPr sz="1400">
                <a:solidFill>
                  <a:srgbClr val="2C3E50"/>
                </a:solidFill>
              </a:defRPr>
            </a:pPr>
            <a:r>
              <a:t>PostgreSQL, JSONB</a:t>
            </a:r>
            <a:br/>
            <a:r>
              <a:t>миграции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291840"/>
            <a:ext cx="3291840" cy="146304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276"/>
                </a:solidFill>
              </a:defRPr>
            </a:pPr>
            <a:r>
              <a:t>ProLife Libraries</a:t>
            </a:r>
          </a:p>
          <a:p>
            <a:pPr algn="ctr">
              <a:defRPr sz="1400">
                <a:solidFill>
                  <a:srgbClr val="2C3E50"/>
                </a:solidFill>
              </a:defRPr>
            </a:pPr>
            <a:r>
              <a:t>prolifedata, prolifedb</a:t>
            </a:r>
            <a:br/>
            <a:r>
              <a:t>prolifegql, prolifeqml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3291840"/>
            <a:ext cx="3291840" cy="146304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276"/>
                </a:solidFill>
              </a:defRPr>
            </a:pPr>
            <a:r>
              <a:t>ProLife Tools</a:t>
            </a:r>
          </a:p>
          <a:p>
            <a:pPr algn="ctr">
              <a:defRPr sz="1400">
                <a:solidFill>
                  <a:srgbClr val="2C3E50"/>
                </a:solidFill>
              </a:defRPr>
            </a:pPr>
            <a:r>
              <a:t>Converter, Configurator</a:t>
            </a:r>
            <a:br/>
            <a:r>
              <a:t>Plugins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972800" cy="914400"/>
          </a:xfrm>
          <a:prstGeom prst="round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Фундамент:  ACF (Application Component Framework)  +  ImtCore SDK (61 библиотека)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Технический стек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058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A5276"/>
                </a:solidFill>
              </a:defRPr>
            </a:pPr>
            <a:r>
              <a:t>C++ (C++17)</a:t>
            </a:r>
          </a:p>
          <a:p>
            <a:pPr algn="l">
              <a:defRPr sz="1300">
                <a:solidFill>
                  <a:srgbClr val="2C3E50"/>
                </a:solidFill>
              </a:defRPr>
            </a:pPr>
            <a:r>
              <a:t>Основной язык разработки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120640" cy="10058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A5276"/>
                </a:solidFill>
              </a:defRPr>
            </a:pPr>
            <a:r>
              <a:t>Qt 5 / Qt 6 + QML</a:t>
            </a:r>
          </a:p>
          <a:p>
            <a:pPr algn="l">
              <a:defRPr sz="1300">
                <a:solidFill>
                  <a:srgbClr val="2C3E50"/>
                </a:solidFill>
              </a:defRPr>
            </a:pPr>
            <a:r>
              <a:t>Кросс-платформенный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5120640" cy="10058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A5276"/>
                </a:solidFill>
              </a:defRPr>
            </a:pPr>
            <a:r>
              <a:t>GraphQL + REST</a:t>
            </a:r>
          </a:p>
          <a:p>
            <a:pPr algn="l">
              <a:defRPr sz="1300">
                <a:solidFill>
                  <a:srgbClr val="2C3E50"/>
                </a:solidFill>
              </a:defRPr>
            </a:pPr>
            <a:r>
              <a:t>API-протоколы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697480"/>
            <a:ext cx="5120640" cy="10058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A5276"/>
                </a:solidFill>
              </a:defRPr>
            </a:pPr>
            <a:r>
              <a:t>WebSocket + gRPC</a:t>
            </a:r>
          </a:p>
          <a:p>
            <a:pPr algn="l">
              <a:defRPr sz="1300">
                <a:solidFill>
                  <a:srgbClr val="2C3E50"/>
                </a:solidFill>
              </a:defRPr>
            </a:pPr>
            <a:r>
              <a:t>Реальное время и RPC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10058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A5276"/>
                </a:solidFill>
              </a:defRPr>
            </a:pPr>
            <a:r>
              <a:t>PostgreSQL + SQLite</a:t>
            </a:r>
          </a:p>
          <a:p>
            <a:pPr algn="l">
              <a:defRPr sz="1300">
                <a:solidFill>
                  <a:srgbClr val="2C3E50"/>
                </a:solidFill>
              </a:defRPr>
            </a:pPr>
            <a:r>
              <a:t>Реляционные СУБД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31920"/>
            <a:ext cx="5120640" cy="10058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A5276"/>
                </a:solidFill>
              </a:defRPr>
            </a:pPr>
            <a:r>
              <a:t>MongoDB + MDBX</a:t>
            </a:r>
          </a:p>
          <a:p>
            <a:pPr algn="l">
              <a:defRPr sz="1300">
                <a:solidFill>
                  <a:srgbClr val="2C3E50"/>
                </a:solidFill>
              </a:defRPr>
            </a:pPr>
            <a:r>
              <a:t>NoSQL хранилища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5120640" cy="10058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A5276"/>
                </a:solidFill>
              </a:defRPr>
            </a:pPr>
            <a:r>
              <a:t>SSL/TLS + AES/RSA</a:t>
            </a:r>
          </a:p>
          <a:p>
            <a:pPr algn="l">
              <a:defRPr sz="1300">
                <a:solidFill>
                  <a:srgbClr val="2C3E50"/>
                </a:solidFill>
              </a:defRPr>
            </a:pPr>
            <a:r>
              <a:t>Шифрование и безопасность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166360"/>
            <a:ext cx="5120640" cy="10058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A5276"/>
                </a:solidFill>
              </a:defRPr>
            </a:pPr>
            <a:r>
              <a:t>CMake + Conan</a:t>
            </a:r>
          </a:p>
          <a:p>
            <a:pPr algn="l">
              <a:defRPr sz="1300">
                <a:solidFill>
                  <a:srgbClr val="2C3E50"/>
                </a:solidFill>
              </a:defRPr>
            </a:pPr>
            <a:r>
              <a:t>Система сборки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ACF — Application Component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t>Собственный компонентный фреймворк промышленного уровня. Основа всех продуктов ImagingTools. Более 20 библиотек. Лицензия LGPL-2.1.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  <a:buChar char="●"/>
            </a:pPr>
            <a:r>
              <a:t>Компонентная архитектура с Dependency Injection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  <a:buChar char="●"/>
            </a:pPr>
            <a:r>
              <a:t>Типобезопасное управление параметрами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  <a:buChar char="●"/>
            </a:pPr>
            <a:r>
              <a:t>Встроенная сериализация и персистентность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  <a:buChar char="●"/>
            </a:pPr>
            <a:r>
              <a:t>Document/View фреймворк (undo/redo)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  <a:buChar char="●"/>
            </a:pPr>
            <a:r>
              <a:t>2D/3D графика и геометрические операции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  <a:buChar char="●"/>
            </a:pPr>
            <a:r>
              <a:t>Глубокая интеграция с Qt (виджеты, QML)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  <a:buChar char="●"/>
            </a:pPr>
            <a:r>
              <a:t>Модульная система пакетов и плагинов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5603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980B9"/>
                </a:solidFill>
                <a:latin typeface="Calibri"/>
              </a:defRPr>
              <a:buChar char="●"/>
            </a:pPr>
            <a:r>
              <a:t>Ядро: istd, icomp, iser, iprm</a:t>
            </a:r>
          </a:p>
          <a:p>
            <a:pPr>
              <a:spcAft>
                <a:spcPts val="600"/>
              </a:spcAft>
              <a:defRPr sz="1400">
                <a:solidFill>
                  <a:srgbClr val="2980B9"/>
                </a:solidFill>
                <a:latin typeface="Calibri"/>
              </a:defRPr>
              <a:buChar char="●"/>
            </a:pPr>
            <a:r>
              <a:t>Математика: imath, i2d, i3d, icmm</a:t>
            </a:r>
          </a:p>
          <a:p>
            <a:pPr>
              <a:spcAft>
                <a:spcPts val="600"/>
              </a:spcAft>
              <a:defRPr sz="1400">
                <a:solidFill>
                  <a:srgbClr val="2980B9"/>
                </a:solidFill>
                <a:latin typeface="Calibri"/>
              </a:defRPr>
              <a:buChar char="●"/>
            </a:pPr>
            <a:r>
              <a:t>Документы: idoc, iview, imod</a:t>
            </a:r>
          </a:p>
          <a:p>
            <a:pPr>
              <a:spcAft>
                <a:spcPts val="600"/>
              </a:spcAft>
              <a:defRPr sz="1400">
                <a:solidFill>
                  <a:srgbClr val="2980B9"/>
                </a:solidFill>
                <a:latin typeface="Calibri"/>
              </a:defRPr>
              <a:buChar char="●"/>
            </a:pPr>
            <a:r>
              <a:t>Файлы: ifile, ifilegui, iimg</a:t>
            </a:r>
          </a:p>
          <a:p>
            <a:pPr>
              <a:spcAft>
                <a:spcPts val="600"/>
              </a:spcAft>
              <a:defRPr sz="1400">
                <a:solidFill>
                  <a:srgbClr val="2980B9"/>
                </a:solidFill>
                <a:latin typeface="Calibri"/>
              </a:defRPr>
              <a:buChar char="●"/>
            </a:pPr>
            <a:r>
              <a:t>Логирование: ilog, iloggui, itest</a:t>
            </a:r>
          </a:p>
          <a:p>
            <a:pPr>
              <a:spcAft>
                <a:spcPts val="600"/>
              </a:spcAft>
              <a:defRPr sz="1400">
                <a:solidFill>
                  <a:srgbClr val="2980B9"/>
                </a:solidFill>
                <a:latin typeface="Calibri"/>
              </a:defRPr>
              <a:buChar char="●"/>
            </a:pPr>
            <a:r>
              <a:t>Qt: iqt, iqtgui, iqtprm, iwidgets</a:t>
            </a:r>
          </a:p>
          <a:p>
            <a:pPr>
              <a:spcAft>
                <a:spcPts val="600"/>
              </a:spcAft>
              <a:defRPr sz="1400">
                <a:solidFill>
                  <a:srgbClr val="2980B9"/>
                </a:solidFill>
                <a:latin typeface="Calibri"/>
              </a:defRPr>
              <a:buChar char="●"/>
            </a:pPr>
            <a:r>
              <a:t>Инфраструктура: iattr, ibase, ipackage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ImtCore SDK — 61 библиотека, 14 доменов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t>Масштабный SDK, расширяющий ACF для построения корпоративных приложений.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Базовая инфраструктура — 7 библиотек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Аутентификация и авторизация — 4 библиотеки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Базы данных — 5 библиотек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Лицензирование — 4 библиотеки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GraphQL API — 8 библиотек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Пользовательский интерфейс — 16 библиотек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3D и визуализация — 6 библиотек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Контент и медиа — 3 библиотеки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Коммуникации — 4 библиотеки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Безопасность — 1 библиотека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Кодогенерация и SDL — 5 библиотек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Инструменты разработчика — 4 библиотеки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Отчётность и логирование — 4 библиотеки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Каркасы приложений — 3 библиотеки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Многослойная архитектура ImtCore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731520"/>
          </a:xfrm>
          <a:prstGeom prst="round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Слой приложений:  imtapp, imtserverapp, imtupdate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40280"/>
            <a:ext cx="9418320" cy="7315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Слой презентации (UI):  imtgui, imtqml, imtwidgets, imtstyle + доменные GUI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108960"/>
            <a:ext cx="941832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Слой API:  imtgql, imtrest, imthttp, imtservergql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977639"/>
            <a:ext cx="941832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Бизнес-логика:  imtauth, imtlic + доменные библиотеки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846320"/>
            <a:ext cx="941832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Доступ к данным:  imtdb, imtmongo, imtmdbx + доменные *db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715000"/>
            <a:ext cx="9418320" cy="731520"/>
          </a:xfrm>
          <a:prstGeom prst="round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Инфраструктура:  imtbase, imtcore, imtcom, imtcol, imtcrypt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Инновационные технологии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276"/>
                </a:solidFill>
              </a:defRPr>
            </a:pPr>
            <a:r>
              <a:t>Schema Definition Language (SDL)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Собственный DSL для описания схем данных с автоматической генерацией C++ и QML кода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9144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276"/>
                </a:solidFill>
              </a:defRPr>
            </a:pPr>
            <a:r>
              <a:t>Многопротокольная инфраструктура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Одновременная поддержка HTTP, WebSocket, gRPC в единой серверной архитектуре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9144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276"/>
                </a:solidFill>
              </a:defRPr>
            </a:pPr>
            <a:r>
              <a:t>Feature-based лицензирование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Гибкая система лицензий: продукты, функции, временные ограничения, привязка к оборудованию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26279"/>
            <a:ext cx="10698480" cy="9144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276"/>
                </a:solidFill>
              </a:defRPr>
            </a:pPr>
            <a:r>
              <a:t>Компонентная архитектура ACF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Dependency Injection, фабрики, реестры — промышленный уровень переиспользуемости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276"/>
                </a:solidFill>
              </a:defRPr>
            </a:pPr>
            <a:r>
              <a:t>Реактивный мониторинг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Observable-паттерн для отслеживания состояния соединений и компонентов в реальном времени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Безопасность и соответствие стандартам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Calibri"/>
              </a:defRPr>
              <a:buChar char="●"/>
            </a:pPr>
            <a:r>
              <a:t>EU Cyber Resilience Act (Regulation (EU) 2024/2847)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Calibri"/>
              </a:defRPr>
              <a:buChar char="●"/>
            </a:pPr>
            <a:r>
              <a:t>Software Bill of Materials (SBOM) — CycloneDX 1.5 и SPDX 2.3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Calibri"/>
              </a:defRPr>
              <a:buChar char="●"/>
            </a:pPr>
            <a:r>
              <a:t>SPDX License Identifiers (ISO/IEC 5962:2021)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Calibri"/>
              </a:defRPr>
              <a:buChar char="●"/>
            </a:pPr>
            <a:r>
              <a:t>Координированная политика раскрытия уязвимостей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Calibri"/>
              </a:defRPr>
              <a:buChar char="●"/>
            </a:pPr>
            <a:r>
              <a:t>CodeQL — автоматическое сканирование на уязвимости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Calibri"/>
              </a:defRPr>
              <a:buChar char="●"/>
            </a:pPr>
            <a:r>
              <a:t>CE Declaration — соответствие требованиям ЕС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Calibri"/>
              </a:defRPr>
              <a:buChar char="●"/>
            </a:pPr>
            <a:r>
              <a:t>Регулярные обновления 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Calibri"/>
              </a:defRPr>
              <a:buChar char="●"/>
            </a:pPr>
            <a:r>
              <a:t>TeamCity CI/CD для Windows и Linux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Calibri"/>
              </a:defRPr>
              <a:buChar char="●"/>
            </a:pPr>
            <a:r>
              <a:t>GitHub Actions для автоматических релизов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Calibri"/>
              </a:defRPr>
              <a:buChar char="●"/>
            </a:pPr>
            <a:r>
              <a:t>Auto-Fix on Build Failure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Calibri"/>
              </a:defRPr>
              <a:buChar char="●"/>
            </a:pPr>
            <a:r>
              <a:t>Семантическое версионирование (SemVer)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Calibri"/>
              </a:defRPr>
              <a:buChar char="●"/>
            </a:pPr>
            <a:r>
              <a:t>Автоматическая генерация CHANGELOG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Calibri"/>
              </a:defRPr>
              <a:buChar char="●"/>
            </a:pPr>
            <a:r>
              <a:t>Валидация SBOM при каждой сборке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  <a:latin typeface="Calibri"/>
              </a:defRPr>
            </a:pPr>
            <a:r>
              <a:t>Безопасность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  <a:latin typeface="Calibri"/>
              </a:defRPr>
            </a:pPr>
            <a:r>
              <a:t>CI/CD и автоматизация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Сводные данные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058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5276"/>
                </a:solidFill>
              </a:defRPr>
            </a:pPr>
            <a:r>
              <a:t>Собственные продукты</a:t>
            </a: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3 (ProLife, ACF, ImtCore)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120640" cy="100584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5276"/>
                </a:solidFill>
              </a:defRPr>
            </a:pPr>
            <a:r>
              <a:t>Общее количество библиотек</a:t>
            </a: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90+ (20+ ACF + 61 ImtCore + 7 ProLife)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5120640" cy="10058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5276"/>
                </a:solidFill>
              </a:defRPr>
            </a:pPr>
            <a:r>
              <a:t>Технических доменов в ImtCore</a:t>
            </a: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697480"/>
            <a:ext cx="5120640" cy="100584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5276"/>
                </a:solidFill>
              </a:defRPr>
            </a:pPr>
            <a:r>
              <a:t>Поддерживаемые платформы</a:t>
            </a: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Windows, Linux, macOS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10058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5276"/>
                </a:solidFill>
              </a:defRPr>
            </a:pPr>
            <a:r>
              <a:t>Основной язык</a:t>
            </a: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C++ (C++17)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31920"/>
            <a:ext cx="5120640" cy="100584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5276"/>
                </a:solidFill>
              </a:defRPr>
            </a:pPr>
            <a:r>
              <a:t>API-протоколы</a:t>
            </a: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GraphQL, REST, WebSocket, gRPC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5120640" cy="10058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5276"/>
                </a:solidFill>
              </a:defRPr>
            </a:pPr>
            <a:r>
              <a:t>СУБД</a:t>
            </a: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PostgreSQL, SQLite, MongoDB, MDBX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166360"/>
            <a:ext cx="5120640" cy="100584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5276"/>
                </a:solidFill>
              </a:defRPr>
            </a:pPr>
            <a:r>
              <a:t>Стандарты</a:t>
            </a: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EU CRA, CycloneDX 1.5, SPDX 2.3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7AE60"/>
                </a:solidFill>
                <a:latin typeface="Calibri"/>
              </a:defRPr>
            </a:pPr>
            <a:r>
              <a:t>ImagingTools GmbH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5A5A6"/>
                </a:solidFill>
                <a:latin typeface="Calibri"/>
              </a:defRPr>
            </a:pPr>
            <a:r>
              <a:t>Штокдорф, Германия</a:t>
            </a:r>
            <a:br/>
            <a:r>
              <a:t>https://github.com/ImagingTools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